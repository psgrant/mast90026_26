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5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73" r:id="rId5"/>
    <p:sldMasterId id="2147483677" r:id="rId6"/>
    <p:sldMasterId id="2147483681" r:id="rId7"/>
    <p:sldMasterId id="2147483685" r:id="rId8"/>
    <p:sldMasterId id="2147483689" r:id="rId9"/>
  </p:sldMasterIdLst>
  <p:notesMasterIdLst>
    <p:notesMasterId r:id="rId15"/>
  </p:notesMasterIdLst>
  <p:handoutMasterIdLst>
    <p:handoutMasterId r:id="rId16"/>
  </p:handoutMasterIdLst>
  <p:sldIdLst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4B666-A90C-4A5E-A4A5-C5CA4BE0625E}">
          <p14:sldIdLst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DBF0"/>
    <a:srgbClr val="F7918F"/>
    <a:srgbClr val="FF7474"/>
    <a:srgbClr val="F0BDA8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4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58" t="23650" b="-1"/>
          <a:stretch/>
        </p:blipFill>
        <p:spPr>
          <a:xfrm>
            <a:off x="0" y="0"/>
            <a:ext cx="7643858" cy="458443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6384CA3-99FB-72E4-F120-00F54F3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0" y="584200"/>
            <a:ext cx="5003800" cy="1866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D060F4B-11D5-6478-B489-17BAEFDADCF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8200" y="2781300"/>
            <a:ext cx="5435600" cy="109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827ABC-10DE-F60D-9D6B-612B870641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6100" y="4584700"/>
            <a:ext cx="10807700" cy="10922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Subtitle again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9F94F2-308D-2EAE-F00C-EDB3B4CD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57A3A3-B3C2-4608-5369-5A81A3F5E8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D0549A-D248-AF31-EB62-4DF24A87DE0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ECD0E-B63A-1522-8F16-7B0B0F033072}"/>
              </a:ext>
            </a:extLst>
          </p:cNvPr>
          <p:cNvCxnSpPr/>
          <p:nvPr userDrawn="1"/>
        </p:nvCxnSpPr>
        <p:spPr>
          <a:xfrm flipV="1">
            <a:off x="11353800" y="5880100"/>
            <a:ext cx="304800" cy="977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B3D922-F2C1-5563-0F93-95B15151660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45800" y="5384800"/>
            <a:ext cx="1346200" cy="1473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47A38-1514-22F5-7FD9-A42970743BD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58600" y="5579269"/>
            <a:ext cx="533400" cy="3008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8">
            <a:extLst>
              <a:ext uri="{FF2B5EF4-FFF2-40B4-BE49-F238E27FC236}">
                <a16:creationId xmlns:a16="http://schemas.microsoft.com/office/drawing/2014/main" id="{06262801-CEB7-4152-7FFE-49408665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96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6AC1927-722D-9602-C5A3-F232FDD5A8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8170"/>
            <a:ext cx="10515600" cy="4409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29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58" t="23650" b="-1"/>
          <a:stretch/>
        </p:blipFill>
        <p:spPr>
          <a:xfrm>
            <a:off x="0" y="0"/>
            <a:ext cx="7643858" cy="458443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6384CA3-99FB-72E4-F120-00F54F3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0" y="584200"/>
            <a:ext cx="5003800" cy="1866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D060F4B-11D5-6478-B489-17BAEFDADCF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8200" y="2781300"/>
            <a:ext cx="5435600" cy="109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827ABC-10DE-F60D-9D6B-612B870641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6100" y="4584700"/>
            <a:ext cx="10807700" cy="10922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Subtitle again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3097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9F94F2-308D-2EAE-F00C-EDB3B4CD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57A3A3-B3C2-4608-5369-5A81A3F5E8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D0549A-D248-AF31-EB62-4DF24A87DE0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ECD0E-B63A-1522-8F16-7B0B0F033072}"/>
              </a:ext>
            </a:extLst>
          </p:cNvPr>
          <p:cNvCxnSpPr/>
          <p:nvPr userDrawn="1"/>
        </p:nvCxnSpPr>
        <p:spPr>
          <a:xfrm flipV="1">
            <a:off x="11353800" y="5880100"/>
            <a:ext cx="304800" cy="977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B3D922-F2C1-5563-0F93-95B15151660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45800" y="5384800"/>
            <a:ext cx="1346200" cy="1473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47A38-1514-22F5-7FD9-A42970743BD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58600" y="5579269"/>
            <a:ext cx="533400" cy="3008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8">
            <a:extLst>
              <a:ext uri="{FF2B5EF4-FFF2-40B4-BE49-F238E27FC236}">
                <a16:creationId xmlns:a16="http://schemas.microsoft.com/office/drawing/2014/main" id="{06262801-CEB7-4152-7FFE-49408665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96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6AC1927-722D-9602-C5A3-F232FDD5A8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8170"/>
            <a:ext cx="10515600" cy="4409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DF7D58E-48EE-12A0-8E09-2C8608A63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33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58" t="23650" b="-1"/>
          <a:stretch/>
        </p:blipFill>
        <p:spPr>
          <a:xfrm>
            <a:off x="0" y="0"/>
            <a:ext cx="7643858" cy="458443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6384CA3-99FB-72E4-F120-00F54F3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0" y="584200"/>
            <a:ext cx="5003800" cy="1866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D060F4B-11D5-6478-B489-17BAEFDADCF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8200" y="2781300"/>
            <a:ext cx="5435600" cy="109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827ABC-10DE-F60D-9D6B-612B870641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6100" y="4584700"/>
            <a:ext cx="10807700" cy="10922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Subtitle again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104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9F94F2-308D-2EAE-F00C-EDB3B4CD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57A3A3-B3C2-4608-5369-5A81A3F5E8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D0549A-D248-AF31-EB62-4DF24A87DE0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ECD0E-B63A-1522-8F16-7B0B0F033072}"/>
              </a:ext>
            </a:extLst>
          </p:cNvPr>
          <p:cNvCxnSpPr/>
          <p:nvPr userDrawn="1"/>
        </p:nvCxnSpPr>
        <p:spPr>
          <a:xfrm flipV="1">
            <a:off x="11353800" y="5880100"/>
            <a:ext cx="304800" cy="977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B3D922-F2C1-5563-0F93-95B15151660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45800" y="5384800"/>
            <a:ext cx="1346200" cy="1473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47A38-1514-22F5-7FD9-A42970743BD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58600" y="5579269"/>
            <a:ext cx="533400" cy="3008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8">
            <a:extLst>
              <a:ext uri="{FF2B5EF4-FFF2-40B4-BE49-F238E27FC236}">
                <a16:creationId xmlns:a16="http://schemas.microsoft.com/office/drawing/2014/main" id="{06262801-CEB7-4152-7FFE-49408665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96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6AC1927-722D-9602-C5A3-F232FDD5A8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8170"/>
            <a:ext cx="10515600" cy="4409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ACE0A5C-5593-8A7E-3725-1558957E1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07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58" t="23650" b="-1"/>
          <a:stretch/>
        </p:blipFill>
        <p:spPr>
          <a:xfrm>
            <a:off x="0" y="0"/>
            <a:ext cx="7643858" cy="458443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6384CA3-99FB-72E4-F120-00F54F3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0" y="584200"/>
            <a:ext cx="5003800" cy="1866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D060F4B-11D5-6478-B489-17BAEFDADCF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8200" y="2781300"/>
            <a:ext cx="5435600" cy="109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827ABC-10DE-F60D-9D6B-612B870641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6100" y="4584700"/>
            <a:ext cx="10807700" cy="10922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Subtitle again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01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9F94F2-308D-2EAE-F00C-EDB3B4CD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57A3A3-B3C2-4608-5369-5A81A3F5E8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D0549A-D248-AF31-EB62-4DF24A87DE0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ECD0E-B63A-1522-8F16-7B0B0F033072}"/>
              </a:ext>
            </a:extLst>
          </p:cNvPr>
          <p:cNvCxnSpPr/>
          <p:nvPr userDrawn="1"/>
        </p:nvCxnSpPr>
        <p:spPr>
          <a:xfrm flipV="1">
            <a:off x="11353800" y="5880100"/>
            <a:ext cx="304800" cy="9779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B3D922-F2C1-5563-0F93-95B15151660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45800" y="5384800"/>
            <a:ext cx="1346200" cy="1473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47A38-1514-22F5-7FD9-A42970743BD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58600" y="5579269"/>
            <a:ext cx="533400" cy="3008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8">
            <a:extLst>
              <a:ext uri="{FF2B5EF4-FFF2-40B4-BE49-F238E27FC236}">
                <a16:creationId xmlns:a16="http://schemas.microsoft.com/office/drawing/2014/main" id="{06262801-CEB7-4152-7FFE-49408665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96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6AC1927-722D-9602-C5A3-F232FDD5A8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8170"/>
            <a:ext cx="10515600" cy="4409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DB490B9-E44B-4C78-D614-258460C4F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09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58" t="23650" b="-1"/>
          <a:stretch/>
        </p:blipFill>
        <p:spPr>
          <a:xfrm>
            <a:off x="0" y="0"/>
            <a:ext cx="7643858" cy="458443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6384CA3-99FB-72E4-F120-00F54F3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0" y="584200"/>
            <a:ext cx="5003800" cy="1866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D060F4B-11D5-6478-B489-17BAEFDADCF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8200" y="2781300"/>
            <a:ext cx="5435600" cy="109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827ABC-10DE-F60D-9D6B-612B870641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6100" y="4584700"/>
            <a:ext cx="10807700" cy="10922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Subtitle again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310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9F94F2-308D-2EAE-F00C-EDB3B4CD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57A3A3-B3C2-4608-5369-5A81A3F5E8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D0549A-D248-AF31-EB62-4DF24A87DE0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ECD0E-B63A-1522-8F16-7B0B0F033072}"/>
              </a:ext>
            </a:extLst>
          </p:cNvPr>
          <p:cNvCxnSpPr/>
          <p:nvPr userDrawn="1"/>
        </p:nvCxnSpPr>
        <p:spPr>
          <a:xfrm flipV="1">
            <a:off x="11353800" y="5880100"/>
            <a:ext cx="304800" cy="9779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B3D922-F2C1-5563-0F93-95B15151660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45800" y="5384800"/>
            <a:ext cx="1346200" cy="14732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47A38-1514-22F5-7FD9-A42970743BD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58600" y="5579269"/>
            <a:ext cx="533400" cy="3008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8">
            <a:extLst>
              <a:ext uri="{FF2B5EF4-FFF2-40B4-BE49-F238E27FC236}">
                <a16:creationId xmlns:a16="http://schemas.microsoft.com/office/drawing/2014/main" id="{06262801-CEB7-4152-7FFE-49408665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96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6AC1927-722D-9602-C5A3-F232FDD5A8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8170"/>
            <a:ext cx="10515600" cy="4409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7F04763-67F2-4F2C-85C4-47DB16746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58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9358" t="23650" b="-1"/>
          <a:stretch/>
        </p:blipFill>
        <p:spPr>
          <a:xfrm>
            <a:off x="0" y="0"/>
            <a:ext cx="7643858" cy="458443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6384CA3-99FB-72E4-F120-00F54F3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0" y="584200"/>
            <a:ext cx="5003800" cy="1866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D060F4B-11D5-6478-B489-17BAEFDADCF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918200" y="2781300"/>
            <a:ext cx="5435600" cy="109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Subtitle</a:t>
            </a:r>
            <a:endParaRPr lang="en-AU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0827ABC-10DE-F60D-9D6B-612B870641D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46100" y="4584700"/>
            <a:ext cx="10807700" cy="109220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/>
              <a:t>Subtitle again</a:t>
            </a:r>
          </a:p>
          <a:p>
            <a:pPr lvl="0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3657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79F94F2-308D-2EAE-F00C-EDB3B4CD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957A3A3-B3C2-4608-5369-5A81A3F5E8F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6D0549A-D248-AF31-EB62-4DF24A87DE0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6ECD0E-B63A-1522-8F16-7B0B0F033072}"/>
              </a:ext>
            </a:extLst>
          </p:cNvPr>
          <p:cNvCxnSpPr/>
          <p:nvPr userDrawn="1"/>
        </p:nvCxnSpPr>
        <p:spPr>
          <a:xfrm flipV="1">
            <a:off x="11353800" y="5880100"/>
            <a:ext cx="304800" cy="9779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CB3D922-F2C1-5563-0F93-95B151516602}"/>
              </a:ext>
            </a:extLst>
          </p:cNvPr>
          <p:cNvCxnSpPr>
            <a:cxnSpLocks/>
          </p:cNvCxnSpPr>
          <p:nvPr userDrawn="1"/>
        </p:nvCxnSpPr>
        <p:spPr>
          <a:xfrm flipV="1">
            <a:off x="10845800" y="5384800"/>
            <a:ext cx="1346200" cy="14732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47A38-1514-22F5-7FD9-A42970743BDC}"/>
              </a:ext>
            </a:extLst>
          </p:cNvPr>
          <p:cNvCxnSpPr>
            <a:cxnSpLocks/>
          </p:cNvCxnSpPr>
          <p:nvPr userDrawn="1"/>
        </p:nvCxnSpPr>
        <p:spPr>
          <a:xfrm flipV="1">
            <a:off x="11658600" y="5579269"/>
            <a:ext cx="533400" cy="30083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8">
            <a:extLst>
              <a:ext uri="{FF2B5EF4-FFF2-40B4-BE49-F238E27FC236}">
                <a16:creationId xmlns:a16="http://schemas.microsoft.com/office/drawing/2014/main" id="{06262801-CEB7-4152-7FFE-494086659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96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6AC1927-722D-9602-C5A3-F232FDD5A8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0" y="1628170"/>
            <a:ext cx="10515600" cy="4409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82FBF37-D01B-803B-8158-FFD236775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1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jpe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baseline="0" dirty="0">
          <a:solidFill>
            <a:schemeClr val="tx1"/>
          </a:solidFill>
          <a:latin typeface="Rooney Bold" panose="020F080304030606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1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38CC44-C91B-BFE0-21D9-B312DCDAB0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51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baseline="0" dirty="0">
          <a:solidFill>
            <a:schemeClr val="tx1"/>
          </a:solidFill>
          <a:latin typeface="Rooney Bold" panose="020F080304030606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14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38CC44-C91B-BFE0-21D9-B312DCDAB0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5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652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0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baseline="0" dirty="0">
          <a:solidFill>
            <a:schemeClr val="tx1"/>
          </a:solidFill>
          <a:latin typeface="Rooney Bold" panose="020F080304030606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13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38CC44-C91B-BFE0-21D9-B312DCDAB0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10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1F201-2B56-E930-B181-775055DF7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04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4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baseline="0" dirty="0">
          <a:solidFill>
            <a:schemeClr val="tx1"/>
          </a:solidFill>
          <a:latin typeface="Rooney Bold" panose="020F080304030606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oney Regular" panose="020F05030403060604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29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38CC44-C91B-BFE0-21D9-B312DCDAB0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10000"/>
              <a:alpha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54BA1-3BDF-1338-DA2D-5F82F539E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8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8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baseline="0" dirty="0">
          <a:solidFill>
            <a:schemeClr val="bg1"/>
          </a:solidFill>
          <a:latin typeface="Rooney Bold" panose="020F080304030606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alphaModFix amt="62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38CC44-C91B-BFE0-21D9-B312DCDAB0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10000"/>
              <a:alpha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2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6C5FD-9563-05DF-B6DC-A68F8AECF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49"/>
            <a:ext cx="2870200" cy="365125"/>
          </a:xfrm>
          <a:prstGeom prst="rect">
            <a:avLst/>
          </a:prstGeom>
        </p:spPr>
        <p:txBody>
          <a:bodyPr/>
          <a:lstStyle>
            <a:lvl1pPr algn="l">
              <a:lnSpc>
                <a:spcPct val="100000"/>
              </a:lnSpc>
              <a:defRPr sz="1000">
                <a:solidFill>
                  <a:schemeClr val="bg1"/>
                </a:solidFill>
                <a:latin typeface="Rooney Regular" panose="020F0503040306060404" pitchFamily="34" charset="0"/>
              </a:defRPr>
            </a:lvl1pPr>
          </a:lstStyle>
          <a:p>
            <a:r>
              <a:rPr lang="en-GB"/>
              <a:t>Predicting Buckling in Epithelial Monolayers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4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2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kern="1200" cap="none" baseline="0" dirty="0">
          <a:solidFill>
            <a:schemeClr val="bg1"/>
          </a:solidFill>
          <a:latin typeface="Rooney Bold" panose="020F08030403060604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Rooney Regular" panose="020F05030403060604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sgrant@unimelb.edu.a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84BC-FDEA-1B03-686D-6977E2BD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897" y="584200"/>
            <a:ext cx="5948456" cy="1866900"/>
          </a:xfrm>
        </p:spPr>
        <p:txBody>
          <a:bodyPr>
            <a:normAutofit/>
          </a:bodyPr>
          <a:lstStyle/>
          <a:p>
            <a:r>
              <a:rPr lang="en-AU" noProof="0" dirty="0"/>
              <a:t>MAST90026</a:t>
            </a:r>
            <a:br>
              <a:rPr lang="en-AU" noProof="0" dirty="0"/>
            </a:br>
            <a:r>
              <a:rPr lang="en-AU" sz="2400" noProof="0" dirty="0"/>
              <a:t>Computational Differential Equations</a:t>
            </a:r>
            <a:br>
              <a:rPr lang="en-AU" sz="2400" noProof="0" dirty="0"/>
            </a:br>
            <a:r>
              <a:rPr lang="en-AU" sz="2400" noProof="0" dirty="0"/>
              <a:t>Semester 1 - 2026</a:t>
            </a:r>
            <a:endParaRPr lang="en-AU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1BCA9-BAC4-537A-5E47-61FE5C2B7C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noProof="0" dirty="0"/>
              <a:t>Patrick Grant – He/Him</a:t>
            </a:r>
          </a:p>
          <a:p>
            <a:pPr marL="0" indent="0">
              <a:buNone/>
            </a:pPr>
            <a:r>
              <a:rPr lang="en-AU" sz="2000" noProof="0" dirty="0">
                <a:hlinkClick r:id="rId2"/>
              </a:rPr>
              <a:t>psgrant@unimelb.edu.au</a:t>
            </a:r>
            <a:r>
              <a:rPr lang="en-AU" sz="2000" noProof="0" dirty="0"/>
              <a:t> </a:t>
            </a:r>
            <a:endParaRPr lang="en-AU" noProof="0" dirty="0"/>
          </a:p>
        </p:txBody>
      </p:sp>
    </p:spTree>
    <p:extLst>
      <p:ext uri="{BB962C8B-B14F-4D97-AF65-F5344CB8AC3E}">
        <p14:creationId xmlns:p14="http://schemas.microsoft.com/office/powerpoint/2010/main" val="1424616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3B4B85-10D0-B902-CF1F-CCFBB85F0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noProof="0" dirty="0"/>
              <a:t>Personal 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A6EC5-748A-FB28-0365-35962E8A5E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Prefer “Pat”.</a:t>
            </a:r>
          </a:p>
          <a:p>
            <a:r>
              <a:rPr lang="en-AU" dirty="0"/>
              <a:t>PhD at QUT.</a:t>
            </a:r>
          </a:p>
          <a:p>
            <a:pPr lvl="1"/>
            <a:r>
              <a:rPr lang="en-AU" dirty="0"/>
              <a:t>Modelling Moisture Migration and Swelling in Engineered Wood Products.</a:t>
            </a:r>
          </a:p>
          <a:p>
            <a:pPr lvl="1"/>
            <a:r>
              <a:rPr lang="en-AU" dirty="0"/>
              <a:t>Coupled three-dimensional nonlinear PDEs.</a:t>
            </a:r>
          </a:p>
          <a:p>
            <a:r>
              <a:rPr lang="en-AU" dirty="0"/>
              <a:t>Postdoctoral researcher here in mathematical biology.</a:t>
            </a:r>
          </a:p>
          <a:p>
            <a:r>
              <a:rPr lang="en-AU" dirty="0"/>
              <a:t>11</a:t>
            </a:r>
            <a:r>
              <a:rPr lang="en-AU" baseline="30000" dirty="0"/>
              <a:t>th</a:t>
            </a:r>
            <a:r>
              <a:rPr lang="en-AU" dirty="0"/>
              <a:t> year using MATLAB.</a:t>
            </a:r>
          </a:p>
        </p:txBody>
      </p:sp>
    </p:spTree>
    <p:extLst>
      <p:ext uri="{BB962C8B-B14F-4D97-AF65-F5344CB8AC3E}">
        <p14:creationId xmlns:p14="http://schemas.microsoft.com/office/powerpoint/2010/main" val="1122781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0C59-FC63-5D6C-0FF8-353459F4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Unit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93895-927A-2D90-EF77-8099D15C79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Numerical techniques for solving:</a:t>
            </a:r>
          </a:p>
          <a:p>
            <a:pPr lvl="1"/>
            <a:r>
              <a:rPr lang="en-AU" dirty="0"/>
              <a:t>Ordinary differential equations (ODEs) and partial differential equations (PDEs).</a:t>
            </a:r>
          </a:p>
          <a:p>
            <a:r>
              <a:rPr lang="en-AU" dirty="0"/>
              <a:t>Initial value problems (IVPs) and boundary value problems (BVPs).</a:t>
            </a:r>
          </a:p>
          <a:p>
            <a:r>
              <a:rPr lang="en-AU" dirty="0"/>
              <a:t>Finite difference method.</a:t>
            </a:r>
          </a:p>
          <a:p>
            <a:r>
              <a:rPr lang="en-AU" dirty="0"/>
              <a:t>Finite element method.</a:t>
            </a:r>
          </a:p>
          <a:p>
            <a:r>
              <a:rPr lang="en-AU" dirty="0"/>
              <a:t>Collocation methods.</a:t>
            </a:r>
          </a:p>
        </p:txBody>
      </p:sp>
    </p:spTree>
    <p:extLst>
      <p:ext uri="{BB962C8B-B14F-4D97-AF65-F5344CB8AC3E}">
        <p14:creationId xmlns:p14="http://schemas.microsoft.com/office/powerpoint/2010/main" val="296443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6F8F-CF60-7FC3-7934-386E8C379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C2997-409F-5F0E-5E31-09E14FF2AB2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1 Hr class Monday 5-6 PM and a 2 Hr class Friday 11 AM – 1 PM.</a:t>
            </a:r>
          </a:p>
          <a:p>
            <a:pPr lvl="1"/>
            <a:r>
              <a:rPr lang="en-AU" dirty="0"/>
              <a:t>In </a:t>
            </a:r>
            <a:r>
              <a:rPr lang="en-GB" dirty="0"/>
              <a:t>Room 5013, Building 110 (The Spot).</a:t>
            </a:r>
          </a:p>
          <a:p>
            <a:pPr lvl="1"/>
            <a:r>
              <a:rPr lang="en-GB" dirty="0"/>
              <a:t>There is no strict structure for these classes think of them as a cross between a lecture and a tutorial, a </a:t>
            </a:r>
            <a:r>
              <a:rPr lang="en-GB" i="1" dirty="0" err="1"/>
              <a:t>lectorial</a:t>
            </a:r>
            <a:r>
              <a:rPr lang="en-GB" dirty="0"/>
              <a:t> perhaps?</a:t>
            </a:r>
          </a:p>
          <a:p>
            <a:r>
              <a:rPr lang="en-GB" dirty="0"/>
              <a:t>Typeset lecture notes released the week before.</a:t>
            </a:r>
          </a:p>
          <a:p>
            <a:r>
              <a:rPr lang="en-AU" dirty="0"/>
              <a:t>Combination of handwritten notes and coding in the classes.</a:t>
            </a:r>
          </a:p>
          <a:p>
            <a:r>
              <a:rPr lang="en-AU" dirty="0"/>
              <a:t>Office consultation hours on Friday 1:30 – 4:30 PM in Room 201, Old Geology South (Building 156).</a:t>
            </a:r>
          </a:p>
        </p:txBody>
      </p:sp>
    </p:spTree>
    <p:extLst>
      <p:ext uri="{BB962C8B-B14F-4D97-AF65-F5344CB8AC3E}">
        <p14:creationId xmlns:p14="http://schemas.microsoft.com/office/powerpoint/2010/main" val="214659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0B36-5A6B-B4D1-1563-FDA21CCFC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0742-82C2-CCD4-8881-AC3E9518FDC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 Four small homework problems (5% each):</a:t>
            </a:r>
          </a:p>
          <a:p>
            <a:pPr lvl="1"/>
            <a:r>
              <a:rPr lang="en-AU" dirty="0"/>
              <a:t>Released 2PM on Friday weeks 1,2,3,4.</a:t>
            </a:r>
          </a:p>
          <a:p>
            <a:pPr lvl="1"/>
            <a:r>
              <a:rPr lang="en-AU" dirty="0"/>
              <a:t>Due 11:59PM the following Friday, weeks 2,3,4,5.</a:t>
            </a:r>
          </a:p>
          <a:p>
            <a:r>
              <a:rPr lang="en-AU" dirty="0"/>
              <a:t>Three larger assignments (20% each):</a:t>
            </a:r>
          </a:p>
          <a:p>
            <a:pPr lvl="1"/>
            <a:r>
              <a:rPr lang="en-AU" dirty="0"/>
              <a:t>Released 2PM on Friday weeks 5,7,9.</a:t>
            </a:r>
          </a:p>
          <a:p>
            <a:pPr lvl="1"/>
            <a:r>
              <a:rPr lang="en-AU" dirty="0"/>
              <a:t>Due 11:59PM 2 weeks later, weeks 7,9,11.</a:t>
            </a:r>
          </a:p>
          <a:p>
            <a:r>
              <a:rPr lang="en-AU" dirty="0"/>
              <a:t>15-minute group presentation (20%):</a:t>
            </a:r>
          </a:p>
          <a:p>
            <a:pPr lvl="1"/>
            <a:r>
              <a:rPr lang="en-AU" dirty="0"/>
              <a:t>In week 13 (maybe week 12 as well).</a:t>
            </a:r>
          </a:p>
          <a:p>
            <a:r>
              <a:rPr lang="en-AU" dirty="0"/>
              <a:t>No exam!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0B95AA-4EEA-24AF-E6DF-FC4057E3998B}"/>
              </a:ext>
            </a:extLst>
          </p:cNvPr>
          <p:cNvSpPr/>
          <p:nvPr/>
        </p:nvSpPr>
        <p:spPr>
          <a:xfrm>
            <a:off x="7700682" y="3223117"/>
            <a:ext cx="3890683" cy="12192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solidFill>
                  <a:schemeClr val="tx1"/>
                </a:solidFill>
              </a:rPr>
              <a:t>I will be uncontactable from 5PM on Friday until 9AM Monday morning.</a:t>
            </a:r>
          </a:p>
        </p:txBody>
      </p:sp>
    </p:spTree>
    <p:extLst>
      <p:ext uri="{BB962C8B-B14F-4D97-AF65-F5344CB8AC3E}">
        <p14:creationId xmlns:p14="http://schemas.microsoft.com/office/powerpoint/2010/main" val="251460746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oned">
      <a:majorFont>
        <a:latin typeface="Rooney Bold"/>
        <a:ea typeface=""/>
        <a:cs typeface=""/>
      </a:majorFont>
      <a:minorFont>
        <a:latin typeface="Rooney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2_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oned">
      <a:majorFont>
        <a:latin typeface="Rooney Bold"/>
        <a:ea typeface=""/>
        <a:cs typeface=""/>
      </a:majorFont>
      <a:minorFont>
        <a:latin typeface="Rooney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3.xml><?xml version="1.0" encoding="utf-8"?>
<a:theme xmlns:a="http://schemas.openxmlformats.org/drawingml/2006/main" name="3_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oned">
      <a:majorFont>
        <a:latin typeface="Rooney Bold"/>
        <a:ea typeface=""/>
        <a:cs typeface=""/>
      </a:majorFont>
      <a:minorFont>
        <a:latin typeface="Rooney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4.xml><?xml version="1.0" encoding="utf-8"?>
<a:theme xmlns:a="http://schemas.openxmlformats.org/drawingml/2006/main" name="4_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oned">
      <a:majorFont>
        <a:latin typeface="Rooney Bold"/>
        <a:ea typeface=""/>
        <a:cs typeface=""/>
      </a:majorFont>
      <a:minorFont>
        <a:latin typeface="Rooney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5.xml><?xml version="1.0" encoding="utf-8"?>
<a:theme xmlns:a="http://schemas.openxmlformats.org/drawingml/2006/main" name="5_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oned">
      <a:majorFont>
        <a:latin typeface="Rooney Bold"/>
        <a:ea typeface=""/>
        <a:cs typeface=""/>
      </a:majorFont>
      <a:minorFont>
        <a:latin typeface="Rooney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6.xml><?xml version="1.0" encoding="utf-8"?>
<a:theme xmlns:a="http://schemas.openxmlformats.org/drawingml/2006/main" name="6_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ooned">
      <a:majorFont>
        <a:latin typeface="Rooney Bold"/>
        <a:ea typeface=""/>
        <a:cs typeface=""/>
      </a:majorFont>
      <a:minorFont>
        <a:latin typeface="Rooney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aa087ea4-8209-4aba-aa9e-e2f8c83fd1d1" xsi:nil="true"/>
    <_activity xmlns="aa087ea4-8209-4aba-aa9e-e2f8c83fd1d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09AF1C46FA3B40842AD180BE849363" ma:contentTypeVersion="19" ma:contentTypeDescription="Create a new document." ma:contentTypeScope="" ma:versionID="60ebf1a04bd01f9f2a6b27381a4255b7">
  <xsd:schema xmlns:xsd="http://www.w3.org/2001/XMLSchema" xmlns:xs="http://www.w3.org/2001/XMLSchema" xmlns:p="http://schemas.microsoft.com/office/2006/metadata/properties" xmlns:ns3="aa087ea4-8209-4aba-aa9e-e2f8c83fd1d1" xmlns:ns4="4a0313c6-14a1-4a29-8cc8-44fb9bd13c43" targetNamespace="http://schemas.microsoft.com/office/2006/metadata/properties" ma:root="true" ma:fieldsID="851615bec7dc60f1c7e92329d9f7496e" ns3:_="" ns4:_="">
    <xsd:import namespace="aa087ea4-8209-4aba-aa9e-e2f8c83fd1d1"/>
    <xsd:import namespace="4a0313c6-14a1-4a29-8cc8-44fb9bd13c4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87ea4-8209-4aba-aa9e-e2f8c83fd1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0313c6-14a1-4a29-8cc8-44fb9bd13c4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aa087ea4-8209-4aba-aa9e-e2f8c83fd1d1"/>
    <ds:schemaRef ds:uri="http://purl.org/dc/elements/1.1/"/>
    <ds:schemaRef ds:uri="4a0313c6-14a1-4a29-8cc8-44fb9bd13c43"/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45A9839-AB0A-4D0F-B74B-3933483AD1D3}">
  <ds:schemaRefs>
    <ds:schemaRef ds:uri="4a0313c6-14a1-4a29-8cc8-44fb9bd13c43"/>
    <ds:schemaRef ds:uri="aa087ea4-8209-4aba-aa9e-e2f8c83fd1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2538</TotalTime>
  <Words>280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Rooney Bold</vt:lpstr>
      <vt:lpstr>Rooney Regular</vt:lpstr>
      <vt:lpstr>Custom</vt:lpstr>
      <vt:lpstr>2_Custom</vt:lpstr>
      <vt:lpstr>3_Custom</vt:lpstr>
      <vt:lpstr>4_Custom</vt:lpstr>
      <vt:lpstr>5_Custom</vt:lpstr>
      <vt:lpstr>6_Custom</vt:lpstr>
      <vt:lpstr>MAST90026 Computational Differential Equations Semester 1 - 2026</vt:lpstr>
      <vt:lpstr>Personal Introduction</vt:lpstr>
      <vt:lpstr>Unit Introduction</vt:lpstr>
      <vt:lpstr>Class Structure</vt:lpstr>
      <vt:lpstr>Assessment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Grant</dc:creator>
  <cp:lastModifiedBy>Patrick Grant</cp:lastModifiedBy>
  <cp:revision>3</cp:revision>
  <dcterms:created xsi:type="dcterms:W3CDTF">2026-01-29T03:05:17Z</dcterms:created>
  <dcterms:modified xsi:type="dcterms:W3CDTF">2026-03-01T23:39:03Z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0x0101008309AF1C46FA3B40842AD180BE849363</vt:lpwstr>
  </property>
  <property fmtid="{D5CDD505-2E9C-101B-9397-08002B2CF9AE}" pid="3" name="MediaServiceImageTags">
    <vt:lpwstr/>
  </property>
</Properties>
</file>